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62" r:id="rId4"/>
    <p:sldId id="259" r:id="rId5"/>
    <p:sldId id="260" r:id="rId6"/>
    <p:sldId id="285" r:id="rId7"/>
    <p:sldId id="289" r:id="rId8"/>
    <p:sldId id="288" r:id="rId9"/>
    <p:sldId id="292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 autoAdjust="0"/>
    <p:restoredTop sz="94660"/>
  </p:normalViewPr>
  <p:slideViewPr>
    <p:cSldViewPr snapToGrid="0">
      <p:cViewPr>
        <p:scale>
          <a:sx n="75" d="100"/>
          <a:sy n="75" d="100"/>
        </p:scale>
        <p:origin x="1081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403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Western food arranged on table"/>
          <p:cNvPicPr>
            <a:picLocks noChangeAspect="1"/>
          </p:cNvPicPr>
          <p:nvPr/>
        </p:nvPicPr>
        <p:blipFill rotWithShape="1">
          <a:blip r:embed="rId2"/>
          <a:srcRect r="-2" b="15603"/>
          <a:stretch>
            <a:fillRect/>
          </a:stretch>
        </p:blipFill>
        <p:spPr>
          <a:xfrm>
            <a:off x="20" y="15"/>
            <a:ext cx="12191980" cy="685798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5828" y="4279650"/>
            <a:ext cx="5902325" cy="1595755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  <a:latin typeface="Arial Black" panose="020B0A04020102020204" pitchFamily="34" charset="0"/>
              </a:rPr>
              <a:t>Leveraging AWS for Food Market Predictive Analytics</a:t>
            </a:r>
            <a:br>
              <a:rPr lang="en-US" b="1" dirty="0">
                <a:solidFill>
                  <a:srgbClr val="FFC000"/>
                </a:solidFill>
                <a:latin typeface="Arial Black" panose="020B0A04020102020204" pitchFamily="34" charset="0"/>
              </a:rPr>
            </a:br>
            <a:endParaRPr lang="en-US" b="1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A6039CF-8BD5-4560-8690-CAEC00743C1D}" type="datetime1">
              <a:rPr lang="en-US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6/15/2026</a:t>
            </a:fld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5"/>
    </mc:Choice>
    <mc:Fallback xmlns="">
      <p:transition spd="slow" advTm="354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4533900" cy="3591463"/>
          </a:xfrm>
        </p:spPr>
        <p:txBody>
          <a:bodyPr anchor="t">
            <a:normAutofit/>
          </a:bodyPr>
          <a:lstStyle/>
          <a:p>
            <a:r>
              <a:rPr lang="en-US" dirty="0"/>
              <a:t>Contents: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400799" y="1439141"/>
            <a:ext cx="4795405" cy="435205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Business Understanding</a:t>
            </a:r>
          </a:p>
          <a:p>
            <a:r>
              <a:rPr lang="en-US" dirty="0"/>
              <a:t>Data Understanding</a:t>
            </a:r>
          </a:p>
          <a:p>
            <a:r>
              <a:rPr lang="en-US" dirty="0"/>
              <a:t>Methodology</a:t>
            </a:r>
          </a:p>
          <a:p>
            <a:pPr lvl="1"/>
            <a:r>
              <a:rPr lang="en-US" dirty="0"/>
              <a:t>Data Preparation</a:t>
            </a:r>
          </a:p>
          <a:p>
            <a:pPr lvl="1"/>
            <a:r>
              <a:rPr lang="en-US" dirty="0"/>
              <a:t>Model Development</a:t>
            </a:r>
          </a:p>
          <a:p>
            <a:pPr lvl="1"/>
            <a:r>
              <a:rPr lang="en-US" dirty="0"/>
              <a:t>Model Evaluation</a:t>
            </a:r>
          </a:p>
          <a:p>
            <a:pPr lvl="1"/>
            <a:r>
              <a:rPr lang="en-US" dirty="0"/>
              <a:t>Model Delivery/Deployment/Serving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Tools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solidFill>
                  <a:srgbClr val="1F2328"/>
                </a:solidFill>
                <a:ea typeface="+mn-lt"/>
                <a:cs typeface="+mn-lt"/>
              </a:rPr>
              <a:t>Food companies that have several fulfilment centers/branches spread across different locations nationally are often faced with the problem of planning the right/optimal stock/inventory of ingredients and food raw materials to prepare the optimal amount of food at these food fulfilment centers.</a:t>
            </a:r>
          </a:p>
          <a:p>
            <a:r>
              <a:rPr lang="en-US" sz="1800" b="1" dirty="0">
                <a:solidFill>
                  <a:srgbClr val="1F2328"/>
                </a:solidFill>
                <a:ea typeface="+mn-lt"/>
                <a:cs typeface="+mn-lt"/>
              </a:rPr>
              <a:t>We address this problem by implementing several time series model to forecast the demand for food on a weekly basis where these fulfilment centers are located.</a:t>
            </a:r>
            <a:endParaRPr lang="en-US" b="1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727495"/>
          </a:xfrm>
        </p:spPr>
        <p:txBody>
          <a:bodyPr/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70983"/>
            <a:ext cx="10478218" cy="375646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latin typeface="Grandview Display"/>
                <a:ea typeface="+mn-lt"/>
                <a:cs typeface="+mn-lt"/>
              </a:rPr>
              <a:t>Demand forecasting is a key component to every growing online business. </a:t>
            </a:r>
          </a:p>
          <a:p>
            <a:r>
              <a:rPr lang="en-US" b="1" dirty="0">
                <a:latin typeface="Grandview Display"/>
                <a:ea typeface="+mn-lt"/>
                <a:cs typeface="+mn-lt"/>
              </a:rPr>
              <a:t>Without proper demand forecasting processes in place, it can be nearly impossible to have the right amount of stock on hand at any given time. </a:t>
            </a:r>
            <a:endParaRPr lang="en-US" b="1" dirty="0"/>
          </a:p>
          <a:p>
            <a:r>
              <a:rPr lang="en-US" b="1" dirty="0">
                <a:latin typeface="Grandview Display"/>
                <a:ea typeface="+mn-lt"/>
                <a:cs typeface="+mn-lt"/>
              </a:rPr>
              <a:t>A food service company/restaurant must deal with a lot of perishable raw materials which makes it more important for such a company to accurately forecast daily and weekly demand.</a:t>
            </a:r>
            <a:endParaRPr lang="en-US" b="1" dirty="0">
              <a:latin typeface="Grandview Display"/>
              <a:ea typeface="+mn-lt"/>
              <a:cs typeface="Times New Roman" panose="02020603050405020304"/>
            </a:endParaRPr>
          </a:p>
          <a:p>
            <a:r>
              <a:rPr lang="en-US" b="1" dirty="0">
                <a:latin typeface="Grandview Display"/>
                <a:ea typeface="+mn-lt"/>
                <a:cs typeface="+mn-lt"/>
              </a:rPr>
              <a:t>Too much inventory in the warehouse means more risk of wastage, and not enough could lead to insufficient resources and push customers to seek solutions from your competitors.</a:t>
            </a:r>
            <a:endParaRPr lang="en-US" b="1" dirty="0"/>
          </a:p>
          <a:p>
            <a:endParaRPr lang="en-US" sz="1400" dirty="0">
              <a:solidFill>
                <a:srgbClr val="1F232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43095"/>
            <a:ext cx="10363200" cy="1187570"/>
          </a:xfrm>
        </p:spPr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14400" y="2131060"/>
            <a:ext cx="4942840" cy="429387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35" b="1" dirty="0"/>
              <a:t>3 relational tables</a:t>
            </a:r>
          </a:p>
          <a:p>
            <a:pPr>
              <a:lnSpc>
                <a:spcPct val="100000"/>
              </a:lnSpc>
            </a:pPr>
            <a:r>
              <a:rPr lang="en-US" sz="1335" b="1" dirty="0"/>
              <a:t>Hierarchical structure</a:t>
            </a:r>
          </a:p>
          <a:p>
            <a:pPr>
              <a:lnSpc>
                <a:spcPct val="100000"/>
              </a:lnSpc>
            </a:pPr>
            <a:r>
              <a:rPr lang="en-US" sz="1335" b="1" dirty="0"/>
              <a:t>77 fulfilment centers</a:t>
            </a:r>
          </a:p>
          <a:p>
            <a:pPr>
              <a:lnSpc>
                <a:spcPct val="100000"/>
              </a:lnSpc>
            </a:pPr>
            <a:r>
              <a:rPr lang="en-US" sz="1335" b="1" dirty="0"/>
              <a:t>56 meals</a:t>
            </a:r>
          </a:p>
          <a:p>
            <a:pPr>
              <a:lnSpc>
                <a:spcPct val="100000"/>
              </a:lnSpc>
            </a:pPr>
            <a:r>
              <a:rPr lang="en-US" sz="1335" b="1" dirty="0"/>
              <a:t>14 food categories</a:t>
            </a:r>
          </a:p>
          <a:p>
            <a:pPr>
              <a:lnSpc>
                <a:spcPct val="100000"/>
              </a:lnSpc>
            </a:pPr>
            <a:r>
              <a:rPr lang="en-US" sz="1335" b="1" dirty="0"/>
              <a:t>146 weeks of data</a:t>
            </a:r>
          </a:p>
        </p:txBody>
      </p:sp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9AE747C2-7951-2848-428C-89AC37361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633" y="3317300"/>
            <a:ext cx="3098800" cy="288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4FFC95F-EF8A-143B-7945-5D3B658EA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23" y="3120450"/>
            <a:ext cx="1892300" cy="32766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964E2E-F99B-4899-37BA-0DFF8C84EA59}"/>
              </a:ext>
            </a:extLst>
          </p:cNvPr>
          <p:cNvCxnSpPr/>
          <p:nvPr/>
        </p:nvCxnSpPr>
        <p:spPr>
          <a:xfrm>
            <a:off x="6863433" y="4611757"/>
            <a:ext cx="891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86" y="79513"/>
            <a:ext cx="10363200" cy="84709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886" y="1271763"/>
            <a:ext cx="3717235" cy="4333907"/>
          </a:xfrm>
        </p:spPr>
        <p:txBody>
          <a:bodyPr>
            <a:normAutofit/>
          </a:bodyPr>
          <a:lstStyle/>
          <a:p>
            <a:r>
              <a:rPr lang="en-US" dirty="0"/>
              <a:t>Data Preparation</a:t>
            </a:r>
          </a:p>
          <a:p>
            <a:pPr lvl="1"/>
            <a:r>
              <a:rPr lang="en-US" dirty="0"/>
              <a:t>Join operations</a:t>
            </a:r>
          </a:p>
          <a:p>
            <a:pPr lvl="1"/>
            <a:endParaRPr lang="en-US" dirty="0"/>
          </a:p>
          <a:p>
            <a:pPr marL="265430" lvl="1" indent="0">
              <a:buNone/>
            </a:pPr>
            <a:endParaRPr lang="en-US" dirty="0"/>
          </a:p>
          <a:p>
            <a:pPr lvl="1"/>
            <a:r>
              <a:rPr lang="en-US" dirty="0"/>
              <a:t>Aggregations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Stationarity tests</a:t>
            </a:r>
          </a:p>
          <a:p>
            <a:pPr lvl="1"/>
            <a:endParaRPr lang="en-US" dirty="0"/>
          </a:p>
        </p:txBody>
      </p:sp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C1F67B34-26E2-71D7-C7E8-143DECD47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6" y="2062268"/>
            <a:ext cx="4514298" cy="777527"/>
          </a:xfrm>
          <a:prstGeom prst="rect">
            <a:avLst/>
          </a:prstGeom>
        </p:spPr>
      </p:pic>
      <p:pic>
        <p:nvPicPr>
          <p:cNvPr id="10" name="Picture 9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26E1C7C3-7A2F-9C1A-349B-48CD4491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6" y="3401138"/>
            <a:ext cx="3962400" cy="508000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BBEB6E95-A75C-954C-BFB3-45FAE7DA6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11" y="1154098"/>
            <a:ext cx="2358884" cy="22470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1A34AAA7-0B7C-3D1D-5C0E-BB79565A4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11" y="4266624"/>
            <a:ext cx="2358883" cy="251186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36058899-9E83-A5D0-EE0F-418BB8D46B13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4797286" y="2277618"/>
            <a:ext cx="1185225" cy="13775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9BD49D-FFBE-F6F8-34EB-8455A0D83A6C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7161953" y="3401138"/>
            <a:ext cx="0" cy="86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4CC0B32-913D-3BDF-33ED-DF8B52012E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4" y="4961075"/>
            <a:ext cx="3124200" cy="1435100"/>
          </a:xfrm>
          <a:prstGeom prst="rect">
            <a:avLst/>
          </a:prstGeom>
        </p:spPr>
      </p:pic>
      <p:pic>
        <p:nvPicPr>
          <p:cNvPr id="30" name="Picture 29" descr="A diagram of a computer process&#10;&#10;Description automatically generated with medium confidence">
            <a:extLst>
              <a:ext uri="{FF2B5EF4-FFF2-40B4-BE49-F238E27FC236}">
                <a16:creationId xmlns:a16="http://schemas.microsoft.com/office/drawing/2014/main" id="{A08952DC-E22D-3195-ABA2-9D11CA71FA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086" y="3300481"/>
            <a:ext cx="3670300" cy="106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886" y="79513"/>
            <a:ext cx="10363200" cy="84709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170" y="1361215"/>
            <a:ext cx="3717235" cy="3098745"/>
          </a:xfrm>
        </p:spPr>
        <p:txBody>
          <a:bodyPr>
            <a:normAutofit/>
          </a:bodyPr>
          <a:lstStyle/>
          <a:p>
            <a:r>
              <a:rPr lang="en-US" dirty="0"/>
              <a:t>Model Evaluation</a:t>
            </a:r>
          </a:p>
          <a:p>
            <a:pPr lvl="1"/>
            <a:r>
              <a:rPr lang="en-US" dirty="0"/>
              <a:t>Train &amp; Test MAEs</a:t>
            </a:r>
          </a:p>
          <a:p>
            <a:pPr lvl="1"/>
            <a:r>
              <a:rPr lang="en-US" dirty="0"/>
              <a:t>Model residual Plots</a:t>
            </a:r>
          </a:p>
          <a:p>
            <a:pPr lvl="1"/>
            <a:r>
              <a:rPr lang="en-US" dirty="0"/>
              <a:t>Generalized with the evaluation results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0917AC-43EA-D844-0AA3-0FD2D056917C}"/>
              </a:ext>
            </a:extLst>
          </p:cNvPr>
          <p:cNvSpPr txBox="1">
            <a:spLocks/>
          </p:cNvSpPr>
          <p:nvPr/>
        </p:nvSpPr>
        <p:spPr>
          <a:xfrm>
            <a:off x="8206405" y="1361213"/>
            <a:ext cx="3717235" cy="3098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03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Delivery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6C781F-09A8-DC39-8D1F-13213127F752}"/>
              </a:ext>
            </a:extLst>
          </p:cNvPr>
          <p:cNvSpPr txBox="1">
            <a:spLocks/>
          </p:cNvSpPr>
          <p:nvPr/>
        </p:nvSpPr>
        <p:spPr>
          <a:xfrm>
            <a:off x="151569" y="1259012"/>
            <a:ext cx="3717235" cy="3098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03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Training</a:t>
            </a:r>
          </a:p>
          <a:p>
            <a:pPr lvl="1"/>
            <a:r>
              <a:rPr lang="en-US" dirty="0"/>
              <a:t>Used ARMA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fit 9 time series models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50F466-FB31-9280-43E3-D04AD66DB0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2" y="2052599"/>
            <a:ext cx="4151796" cy="510788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2FCB7EDF-5141-B0EE-DA44-A92BB701B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093" y="1789044"/>
            <a:ext cx="4748907" cy="1713947"/>
          </a:xfrm>
          <a:prstGeom prst="rect">
            <a:avLst/>
          </a:prstGeom>
        </p:spPr>
      </p:pic>
      <p:pic>
        <p:nvPicPr>
          <p:cNvPr id="14" name="Picture 13" descr="A screen shot of a graph&#10;&#10;Description automatically generated">
            <a:extLst>
              <a:ext uri="{FF2B5EF4-FFF2-40B4-BE49-F238E27FC236}">
                <a16:creationId xmlns:a16="http://schemas.microsoft.com/office/drawing/2014/main" id="{49042F3A-2A2F-059C-8095-D8D004BE1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560" y="3765559"/>
            <a:ext cx="6633910" cy="26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7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BDE43BD6-2B0F-A986-19DA-56D334F34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697" y="1580096"/>
            <a:ext cx="8071329" cy="490802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AB27C44-7BC4-C9EF-3334-B1C9F23F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24" y="109330"/>
            <a:ext cx="10363200" cy="847090"/>
          </a:xfrm>
        </p:spPr>
        <p:txBody>
          <a:bodyPr/>
          <a:lstStyle/>
          <a:p>
            <a:r>
              <a:rPr lang="en-US" dirty="0"/>
              <a:t>App Structure and Workflow</a:t>
            </a:r>
          </a:p>
        </p:txBody>
      </p:sp>
    </p:spTree>
    <p:extLst>
      <p:ext uri="{BB962C8B-B14F-4D97-AF65-F5344CB8AC3E}">
        <p14:creationId xmlns:p14="http://schemas.microsoft.com/office/powerpoint/2010/main" val="1855486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CBB1F721-C613-2ECE-784A-64935526E0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70"/>
          <a:stretch/>
        </p:blipFill>
        <p:spPr>
          <a:xfrm>
            <a:off x="737152" y="1120854"/>
            <a:ext cx="7072106" cy="1674744"/>
          </a:xfrm>
          <a:prstGeom prst="rect">
            <a:avLst/>
          </a:prstGeom>
        </p:spPr>
      </p:pic>
      <p:pic>
        <p:nvPicPr>
          <p:cNvPr id="15" name="Picture 14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62A3FE9D-4B1D-FBE4-7AA7-B9B06C835C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"/>
          <a:stretch/>
        </p:blipFill>
        <p:spPr>
          <a:xfrm>
            <a:off x="737152" y="2664444"/>
            <a:ext cx="7168736" cy="1761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A5006-31E2-5969-26A7-D36E90EF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8" y="208723"/>
            <a:ext cx="10363200" cy="1187570"/>
          </a:xfrm>
        </p:spPr>
        <p:txBody>
          <a:bodyPr/>
          <a:lstStyle/>
          <a:p>
            <a:r>
              <a:rPr lang="en-NG" dirty="0"/>
              <a:t>Results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37639D61-CB7B-6FD7-07AA-C3D949C6C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596" y="4458534"/>
            <a:ext cx="3886200" cy="2260600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957E1A6-93A3-5C24-27ED-C4EF2DF718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26" y="2543576"/>
            <a:ext cx="2019852" cy="4014870"/>
          </a:xfrm>
          <a:prstGeom prst="rect">
            <a:avLst/>
          </a:prstGeom>
        </p:spPr>
      </p:pic>
      <p:pic>
        <p:nvPicPr>
          <p:cNvPr id="11" name="Picture 10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58FCDA43-C176-38A5-03AC-78E2F7D99B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148" y="1536579"/>
            <a:ext cx="2933700" cy="508000"/>
          </a:xfrm>
          <a:prstGeom prst="rect">
            <a:avLst/>
          </a:prstGeom>
        </p:spPr>
      </p:pic>
      <p:pic>
        <p:nvPicPr>
          <p:cNvPr id="13" name="Picture 1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836780D-A680-16AD-666D-46F450BAD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562" y="4458534"/>
            <a:ext cx="2812359" cy="22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7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359535" y="862330"/>
            <a:ext cx="7927340" cy="12985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Tools used:</a:t>
            </a:r>
          </a:p>
        </p:txBody>
      </p:sp>
      <p:sp>
        <p:nvSpPr>
          <p:cNvPr id="7" name="Content Placeholder 2"/>
          <p:cNvSpPr txBox="1"/>
          <p:nvPr/>
        </p:nvSpPr>
        <p:spPr>
          <a:xfrm>
            <a:off x="648970" y="2160905"/>
            <a:ext cx="10742295" cy="3479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403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sz="16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               </a:t>
            </a:r>
            <a:r>
              <a:rPr lang="en-US" b="1" dirty="0"/>
              <a:t>Jupyter Notebook  </a:t>
            </a:r>
            <a:r>
              <a:rPr lang="en-US" sz="1600" b="1" dirty="0"/>
              <a:t>                           </a:t>
            </a:r>
            <a:r>
              <a:rPr lang="en-US" b="1" dirty="0"/>
              <a:t>AWS S3			Fast API </a:t>
            </a:r>
          </a:p>
        </p:txBody>
      </p:sp>
      <p:pic>
        <p:nvPicPr>
          <p:cNvPr id="3" name="Picture 2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881" y="3067685"/>
            <a:ext cx="2571750" cy="1409700"/>
          </a:xfrm>
          <a:prstGeom prst="rect">
            <a:avLst/>
          </a:prstGeom>
        </p:spPr>
      </p:pic>
      <p:pic>
        <p:nvPicPr>
          <p:cNvPr id="6" name="Picture 5" descr="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35" y="3067685"/>
            <a:ext cx="3686175" cy="1238250"/>
          </a:xfrm>
          <a:prstGeom prst="rect">
            <a:avLst/>
          </a:prstGeom>
        </p:spPr>
      </p:pic>
      <p:pic>
        <p:nvPicPr>
          <p:cNvPr id="8" name="Picture 7" descr="A blue and yellow snake logo&#10;&#10;Description automatically generated">
            <a:extLst>
              <a:ext uri="{FF2B5EF4-FFF2-40B4-BE49-F238E27FC236}">
                <a16:creationId xmlns:a16="http://schemas.microsoft.com/office/drawing/2014/main" id="{0DF87596-7D99-6961-0B7D-E9B27F6BDF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905" y="5122366"/>
            <a:ext cx="1314507" cy="1441173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66686D5-7075-4C64-5707-1038A699CE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193" y="3067685"/>
            <a:ext cx="3226904" cy="1164635"/>
          </a:xfrm>
          <a:prstGeom prst="rect">
            <a:avLst/>
          </a:prstGeom>
        </p:spPr>
      </p:pic>
      <p:pic>
        <p:nvPicPr>
          <p:cNvPr id="11" name="Picture 10" descr="A unicorn with stars and a horn&#10;&#10;Description automatically generated">
            <a:extLst>
              <a:ext uri="{FF2B5EF4-FFF2-40B4-BE49-F238E27FC236}">
                <a16:creationId xmlns:a16="http://schemas.microsoft.com/office/drawing/2014/main" id="{6FBF2ED0-17CD-CCF7-4844-A39870A579A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112" y="4477385"/>
            <a:ext cx="2027583" cy="2027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3A3B48-4C8A-155C-E3D4-3264E791A1F4}"/>
              </a:ext>
            </a:extLst>
          </p:cNvPr>
          <p:cNvSpPr txBox="1"/>
          <p:nvPr/>
        </p:nvSpPr>
        <p:spPr>
          <a:xfrm>
            <a:off x="3440586" y="4430543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G" sz="2000" b="1" dirty="0"/>
              <a:t>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71573-F9ED-BF9C-DA82-BC854291B7DB}"/>
              </a:ext>
            </a:extLst>
          </p:cNvPr>
          <p:cNvSpPr txBox="1"/>
          <p:nvPr/>
        </p:nvSpPr>
        <p:spPr>
          <a:xfrm>
            <a:off x="8035778" y="4430543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G" sz="2000" b="1" dirty="0"/>
              <a:t>Uvicorn</a:t>
            </a:r>
          </a:p>
        </p:txBody>
      </p:sp>
      <p:pic>
        <p:nvPicPr>
          <p:cNvPr id="14" name="11">
            <a:hlinkClick r:id="" action="ppaction://media"/>
            <a:extLst>
              <a:ext uri="{FF2B5EF4-FFF2-40B4-BE49-F238E27FC236}">
                <a16:creationId xmlns:a16="http://schemas.microsoft.com/office/drawing/2014/main" id="{271C2BD9-788E-FD91-F884-C48D3AD0CB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391265" y="60452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6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256" y="2894951"/>
            <a:ext cx="10104408" cy="10535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AnalogousFromLightSeedLeftStep">
      <a:dk1>
        <a:srgbClr val="000000"/>
      </a:dk1>
      <a:lt1>
        <a:srgbClr val="FFFFFF"/>
      </a:lt1>
      <a:dk2>
        <a:srgbClr val="412A24"/>
      </a:dk2>
      <a:lt2>
        <a:srgbClr val="E5E2E8"/>
      </a:lt2>
      <a:accent1>
        <a:srgbClr val="94A77F"/>
      </a:accent1>
      <a:accent2>
        <a:srgbClr val="A1A570"/>
      </a:accent2>
      <a:accent3>
        <a:srgbClr val="B19F7D"/>
      </a:accent3>
      <a:accent4>
        <a:srgbClr val="BA8C7F"/>
      </a:accent4>
      <a:accent5>
        <a:srgbClr val="C4929C"/>
      </a:accent5>
      <a:accent6>
        <a:srgbClr val="BA7FA2"/>
      </a:accent6>
      <a:hlink>
        <a:srgbClr val="8A69AE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739</TotalTime>
  <Words>289</Words>
  <Application>Microsoft Office PowerPoint</Application>
  <PresentationFormat>Widescreen</PresentationFormat>
  <Paragraphs>57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Grandview Display</vt:lpstr>
      <vt:lpstr>DashVTI</vt:lpstr>
      <vt:lpstr>Leveraging AWS for Food Market Predictive Analytics </vt:lpstr>
      <vt:lpstr>Contents:</vt:lpstr>
      <vt:lpstr>Problem Statement</vt:lpstr>
      <vt:lpstr>Business Understanding</vt:lpstr>
      <vt:lpstr>Data Understanding</vt:lpstr>
      <vt:lpstr>Methodology</vt:lpstr>
      <vt:lpstr>Methodology</vt:lpstr>
      <vt:lpstr>App Structure and Workflow</vt:lpstr>
      <vt:lpstr>Results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Veda prakash Chiliveru</cp:lastModifiedBy>
  <cp:revision>448</cp:revision>
  <dcterms:created xsi:type="dcterms:W3CDTF">2023-10-14T20:17:00Z</dcterms:created>
  <dcterms:modified xsi:type="dcterms:W3CDTF">2026-06-15T18:32:08Z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2023-10-17T03:33:55Z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54264e63-ffb0-49b1-a038-28dcda824150</vt:lpwstr>
  </property>
  <property fmtid="{D5CDD505-2E9C-101B-9397-08002B2CF9AE}" pid="7" name="MSIP_Label_defa4170-0d19-0005-0004-bc88714345d2_ActionId">
    <vt:lpwstr>71adef6c-7b97-40b1-a733-674695be2f0d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F0A313D5F37742C7AB5773E1CC07DA49_13</vt:lpwstr>
  </property>
  <property fmtid="{D5CDD505-2E9C-101B-9397-08002B2CF9AE}" pid="10" name="KSOProductBuildVer">
    <vt:lpwstr>1033-12.2.0.13306</vt:lpwstr>
  </property>
</Properties>
</file>